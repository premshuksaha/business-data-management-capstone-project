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9" r:id="rId1"/>
  </p:sldMasterIdLst>
  <p:notesMasterIdLst>
    <p:notesMasterId r:id="rId12"/>
  </p:notesMasterIdLst>
  <p:sldIdLst>
    <p:sldId id="257" r:id="rId2"/>
    <p:sldId id="258" r:id="rId3"/>
    <p:sldId id="259" r:id="rId4"/>
    <p:sldId id="260" r:id="rId5"/>
    <p:sldId id="269" r:id="rId6"/>
    <p:sldId id="270" r:id="rId7"/>
    <p:sldId id="267" r:id="rId8"/>
    <p:sldId id="27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E1A8FC-EE8D-0597-9BF3-5D805720359E}" v="97" dt="2025-08-19T09:22:10.0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002" autoAdjust="0"/>
    <p:restoredTop sz="94660"/>
  </p:normalViewPr>
  <p:slideViewPr>
    <p:cSldViewPr snapToGrid="0">
      <p:cViewPr varScale="1">
        <p:scale>
          <a:sx n="72" d="100"/>
          <a:sy n="72" d="100"/>
        </p:scale>
        <p:origin x="49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9E7C19-14E1-49E7-8A97-3ABFDD985F6D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13E910-5F42-4C87-83F0-A33B1980ED9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4347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2eeaeb7ee6b_1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49950" tIns="49950" rIns="49950" bIns="49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g2eeaeb7ee6b_1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eeaeb7ee6b_1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49950" tIns="49950" rIns="49950" bIns="49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g2eeaeb7ee6b_1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eeaeb7ee6b_1_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49950" tIns="49950" rIns="49950" bIns="49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g2eeaeb7ee6b_1_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2eeaeb7ee6b_1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49950" tIns="49950" rIns="49950" bIns="49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g2eeaeb7ee6b_1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eeaeb7ee6b_1_1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49950" tIns="49950" rIns="49950" bIns="49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g2eeaeb7ee6b_1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eeaeb7ee6b_1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49950" tIns="49950" rIns="49950" bIns="499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g2eeaeb7ee6b_1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93AC-C789-4E66-B340-A55341A4F7C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41FF620-FCBF-41AC-BC19-6E0675F11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4745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93AC-C789-4E66-B340-A55341A4F7C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FF620-FCBF-41AC-BC19-6E0675F11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32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93AC-C789-4E66-B340-A55341A4F7C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41FF620-FCBF-41AC-BC19-6E0675F11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243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93AC-C789-4E66-B340-A55341A4F7C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41FF620-FCBF-41AC-BC19-6E0675F11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485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93AC-C789-4E66-B340-A55341A4F7C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41FF620-FCBF-41AC-BC19-6E0675F11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221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93AC-C789-4E66-B340-A55341A4F7C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FF620-FCBF-41AC-BC19-6E0675F11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462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93AC-C789-4E66-B340-A55341A4F7C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FF620-FCBF-41AC-BC19-6E0675F11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027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93AC-C789-4E66-B340-A55341A4F7C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FF620-FCBF-41AC-BC19-6E0675F11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28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93AC-C789-4E66-B340-A55341A4F7C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41FF620-FCBF-41AC-BC19-6E0675F11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3499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93AC-C789-4E66-B340-A55341A4F7C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41FF620-FCBF-41AC-BC19-6E0675F11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8518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93AC-C789-4E66-B340-A55341A4F7C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41FF620-FCBF-41AC-BC19-6E0675F1163B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75470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93AC-C789-4E66-B340-A55341A4F7C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41FF620-FCBF-41AC-BC19-6E0675F11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5006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93AC-C789-4E66-B340-A55341A4F7C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41FF620-FCBF-41AC-BC19-6E0675F1163B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060527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93AC-C789-4E66-B340-A55341A4F7C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41FF620-FCBF-41AC-BC19-6E0675F11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1417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93AC-C789-4E66-B340-A55341A4F7C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FF620-FCBF-41AC-BC19-6E0675F11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94884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AD93AC-C789-4E66-B340-A55341A4F7C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1FF620-FCBF-41AC-BC19-6E0675F11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1150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AD93AC-C789-4E66-B340-A55341A4F7CF}" type="datetimeFigureOut">
              <a:rPr lang="en-US" smtClean="0"/>
              <a:t>8/19/2025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41FF620-FCBF-41AC-BC19-6E0675F116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87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/>
        </p:nvSpPr>
        <p:spPr>
          <a:xfrm>
            <a:off x="8432221" y="5572028"/>
            <a:ext cx="2498936" cy="584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2600" rIns="0" bIns="0" anchor="t" anchorCtr="0">
            <a:spAutoFit/>
          </a:bodyPr>
          <a:lstStyle/>
          <a:p>
            <a:pPr algn="ctr"/>
            <a:r>
              <a:rPr lang="en" sz="1600" dirty="0">
                <a:solidFill>
                  <a:srgbClr val="F14200"/>
                </a:solidFill>
                <a:latin typeface="Tahoma"/>
                <a:ea typeface="Tahoma"/>
                <a:cs typeface="Tahoma"/>
                <a:sym typeface="Tahoma"/>
              </a:rPr>
              <a:t>- Premshuk Saha</a:t>
            </a:r>
            <a:endParaRPr sz="1600" dirty="0">
              <a:latin typeface="Tahoma"/>
              <a:ea typeface="Tahoma"/>
              <a:cs typeface="Tahoma"/>
              <a:sym typeface="Tahoma"/>
            </a:endParaRPr>
          </a:p>
          <a:p>
            <a:pPr algn="ctr">
              <a:spcBef>
                <a:spcPts val="267"/>
              </a:spcBef>
            </a:pPr>
            <a:r>
              <a:rPr lang="en" sz="1733" dirty="0">
                <a:solidFill>
                  <a:srgbClr val="F14200"/>
                </a:solidFill>
                <a:latin typeface="Tahoma"/>
                <a:ea typeface="Tahoma"/>
                <a:cs typeface="Tahoma"/>
                <a:sym typeface="Tahoma"/>
              </a:rPr>
              <a:t>  23f1000448</a:t>
            </a:r>
            <a:endParaRPr sz="1733" dirty="0"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93" name="Google Shape;9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0949" y="346017"/>
            <a:ext cx="1238249" cy="1238249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9"/>
          <p:cNvSpPr txBox="1"/>
          <p:nvPr/>
        </p:nvSpPr>
        <p:spPr>
          <a:xfrm>
            <a:off x="1746964" y="807568"/>
            <a:ext cx="3533600" cy="3574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467" rIns="0" bIns="0" anchor="t" anchorCtr="0">
            <a:spAutoFit/>
          </a:bodyPr>
          <a:lstStyle/>
          <a:p>
            <a:pPr marL="16933"/>
            <a:r>
              <a:rPr lang="en" sz="2267" dirty="0">
                <a:latin typeface="Tahoma"/>
                <a:ea typeface="Tahoma"/>
                <a:cs typeface="Tahoma"/>
                <a:sym typeface="Tahoma"/>
              </a:rPr>
              <a:t>IIT Madras, BS degree</a:t>
            </a:r>
            <a:endParaRPr sz="2267" dirty="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5" name="Google Shape;95;p19"/>
          <p:cNvSpPr txBox="1"/>
          <p:nvPr/>
        </p:nvSpPr>
        <p:spPr>
          <a:xfrm>
            <a:off x="2875625" y="3832219"/>
            <a:ext cx="6441017" cy="398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467" rIns="0" bIns="0" anchor="t" anchorCtr="0">
            <a:spAutoFit/>
          </a:bodyPr>
          <a:lstStyle/>
          <a:p>
            <a:pPr marL="16933"/>
            <a:r>
              <a:rPr lang="en" sz="2533" dirty="0">
                <a:latin typeface="Tahoma"/>
                <a:ea typeface="Tahoma"/>
                <a:cs typeface="Tahoma"/>
                <a:sym typeface="Tahoma"/>
              </a:rPr>
              <a:t>A Presentation for the BDM capstone Project</a:t>
            </a:r>
            <a:endParaRPr sz="2533" dirty="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96" name="Google Shape;96;p19"/>
          <p:cNvSpPr txBox="1">
            <a:spLocks noGrp="1"/>
          </p:cNvSpPr>
          <p:nvPr>
            <p:ph type="title"/>
          </p:nvPr>
        </p:nvSpPr>
        <p:spPr>
          <a:xfrm>
            <a:off x="403590" y="2605442"/>
            <a:ext cx="11385127" cy="109391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98200" rIns="0" bIns="0" rtlCol="0" anchor="t" anchorCtr="0">
            <a:spAutoFit/>
          </a:bodyPr>
          <a:lstStyle/>
          <a:p>
            <a:pPr marL="2523004" indent="-2523004">
              <a:lnSpc>
                <a:spcPct val="100566"/>
              </a:lnSpc>
              <a:spcBef>
                <a:spcPts val="0"/>
              </a:spcBef>
            </a:pPr>
            <a:r>
              <a:rPr lang="en-US" sz="3200" dirty="0"/>
              <a:t>             Optimizing Online Retail Sales Performance</a:t>
            </a:r>
            <a:br>
              <a:rPr lang="en-US" sz="3200" dirty="0"/>
            </a:br>
            <a:r>
              <a:rPr lang="en-US" sz="3200" dirty="0"/>
              <a:t>     Using a Data-Driven Approach</a:t>
            </a:r>
            <a:endParaRPr sz="3600" dirty="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BE4FC6-F33F-1836-F2D8-94259E31447B}"/>
              </a:ext>
            </a:extLst>
          </p:cNvPr>
          <p:cNvSpPr txBox="1"/>
          <p:nvPr/>
        </p:nvSpPr>
        <p:spPr>
          <a:xfrm>
            <a:off x="11624929" y="6379535"/>
            <a:ext cx="330791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latin typeface="Arial"/>
                <a:cs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1700997" y="709794"/>
            <a:ext cx="4153600" cy="562547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8467" rIns="0" bIns="0" rtlCol="0" anchor="t" anchorCtr="0">
            <a:spAutoFit/>
          </a:bodyPr>
          <a:lstStyle/>
          <a:p>
            <a:pPr marL="16510">
              <a:lnSpc>
                <a:spcPct val="100000"/>
              </a:lnSpc>
              <a:spcBef>
                <a:spcPts val="0"/>
              </a:spcBef>
            </a:pPr>
            <a:r>
              <a:rPr lang="en-IN" u="sng" dirty="0">
                <a:latin typeface="Tahoma"/>
                <a:ea typeface="Tahoma"/>
                <a:cs typeface="Tahoma"/>
                <a:sym typeface="Tahoma"/>
              </a:rPr>
              <a:t>Business Overview</a:t>
            </a:r>
            <a:endParaRPr lang="en-IN" u="sng" dirty="0"/>
          </a:p>
        </p:txBody>
      </p:sp>
      <p:sp>
        <p:nvSpPr>
          <p:cNvPr id="119" name="Google Shape;119;p21"/>
          <p:cNvSpPr txBox="1">
            <a:spLocks noGrp="1"/>
          </p:cNvSpPr>
          <p:nvPr>
            <p:ph type="sldNum" sz="quarter" idx="12"/>
          </p:nvPr>
        </p:nvSpPr>
        <p:spPr>
          <a:xfrm>
            <a:off x="11674137" y="6348498"/>
            <a:ext cx="345996" cy="25988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3533" rIns="0" bIns="0" rtlCol="0" anchor="t" anchorCtr="0">
            <a:spAutoFit/>
          </a:bodyPr>
          <a:lstStyle/>
          <a:p>
            <a:pPr marL="33866" algn="l"/>
            <a:r>
              <a:rPr lang="e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0" name="Google Shape;120;p21"/>
          <p:cNvSpPr txBox="1"/>
          <p:nvPr/>
        </p:nvSpPr>
        <p:spPr>
          <a:xfrm>
            <a:off x="677334" y="2109731"/>
            <a:ext cx="4761231" cy="3171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467" rIns="0" bIns="0" anchor="t" anchorCtr="0">
            <a:spAutoFit/>
          </a:bodyPr>
          <a:lstStyle/>
          <a:p>
            <a:pPr marL="16510">
              <a:lnSpc>
                <a:spcPct val="107500"/>
              </a:lnSpc>
            </a:pPr>
            <a:r>
              <a:rPr lang="en-US" sz="2100" dirty="0"/>
              <a:t>The UK-based online retail company  specializes in selling unique homeware and gift items to both individual customers and wholesalers.</a:t>
            </a:r>
            <a:endParaRPr lang="en-US" sz="2100"/>
          </a:p>
          <a:p>
            <a:pPr marL="16510">
              <a:lnSpc>
                <a:spcPct val="107500"/>
              </a:lnSpc>
            </a:pPr>
            <a:r>
              <a:rPr lang="en-US" sz="2133" dirty="0"/>
              <a:t>The company operates globally, with a diverse customer base purchasing through its e-commerce platform.</a:t>
            </a:r>
            <a:r>
              <a:rPr lang="en-US" sz="2133" dirty="0">
                <a:latin typeface="Tahoma"/>
                <a:ea typeface="Tahoma"/>
                <a:cs typeface="Tahoma"/>
                <a:sym typeface="Tahoma"/>
              </a:rPr>
              <a:t> </a:t>
            </a:r>
            <a:endParaRPr sz="1733" dirty="0">
              <a:latin typeface="Tahoma"/>
              <a:ea typeface="Tahoma"/>
              <a:cs typeface="Tahom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DC979D-8DAC-7831-779D-6D30EDD80E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709794"/>
            <a:ext cx="5438412" cy="543841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5551" y="2289205"/>
            <a:ext cx="2499760" cy="131933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2"/>
          <p:cNvSpPr txBox="1">
            <a:spLocks noGrp="1"/>
          </p:cNvSpPr>
          <p:nvPr>
            <p:ph type="title"/>
          </p:nvPr>
        </p:nvSpPr>
        <p:spPr>
          <a:xfrm>
            <a:off x="1825363" y="612602"/>
            <a:ext cx="10837333" cy="685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8467" rIns="0" bIns="0" rtlCol="0" anchor="t" anchorCtr="0">
            <a:spAutoFit/>
          </a:bodyPr>
          <a:lstStyle/>
          <a:p>
            <a:pPr marL="16933">
              <a:lnSpc>
                <a:spcPct val="100000"/>
              </a:lnSpc>
              <a:spcBef>
                <a:spcPts val="0"/>
              </a:spcBef>
            </a:pPr>
            <a:r>
              <a:rPr lang="en" u="sng" dirty="0"/>
              <a:t>Chall</a:t>
            </a:r>
            <a:r>
              <a:rPr lang="en-IN" u="sng" dirty="0"/>
              <a:t>e</a:t>
            </a:r>
            <a:r>
              <a:rPr lang="en" u="sng" dirty="0"/>
              <a:t>nges to Explore</a:t>
            </a:r>
            <a:endParaRPr u="sng" dirty="0"/>
          </a:p>
        </p:txBody>
      </p:sp>
      <p:sp>
        <p:nvSpPr>
          <p:cNvPr id="129" name="Google Shape;129;p22"/>
          <p:cNvSpPr txBox="1">
            <a:spLocks noGrp="1"/>
          </p:cNvSpPr>
          <p:nvPr>
            <p:ph type="sldNum" sz="quarter" idx="12"/>
          </p:nvPr>
        </p:nvSpPr>
        <p:spPr>
          <a:xfrm>
            <a:off x="11647503" y="6348498"/>
            <a:ext cx="372629" cy="25988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3533" rIns="0" bIns="0" rtlCol="0" anchor="t" anchorCtr="0">
            <a:spAutoFit/>
          </a:bodyPr>
          <a:lstStyle/>
          <a:p>
            <a:pPr marL="33866" algn="l"/>
            <a:r>
              <a:rPr lang="e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0" name="Google Shape;130;p22"/>
          <p:cNvSpPr txBox="1"/>
          <p:nvPr/>
        </p:nvSpPr>
        <p:spPr>
          <a:xfrm>
            <a:off x="4546831" y="4233145"/>
            <a:ext cx="2697199" cy="36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33" rIns="0" bIns="0" anchor="t" anchorCtr="0">
            <a:spAutoFit/>
          </a:bodyPr>
          <a:lstStyle/>
          <a:p>
            <a:pPr marL="16933" algn="ctr">
              <a:lnSpc>
                <a:spcPct val="108800"/>
              </a:lnSpc>
            </a:pPr>
            <a:r>
              <a:rPr lang="en-IN" sz="2133" dirty="0">
                <a:latin typeface="Tahoma"/>
                <a:ea typeface="Tahoma"/>
                <a:cs typeface="Tahoma"/>
                <a:sym typeface="Tahoma"/>
              </a:rPr>
              <a:t>High Value Customers</a:t>
            </a:r>
            <a:endParaRPr sz="2133" dirty="0"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989159C-8F0B-8C90-73D4-5EF453BC45D3}"/>
              </a:ext>
            </a:extLst>
          </p:cNvPr>
          <p:cNvSpPr txBox="1"/>
          <p:nvPr/>
        </p:nvSpPr>
        <p:spPr>
          <a:xfrm>
            <a:off x="8046743" y="4233144"/>
            <a:ext cx="3117795" cy="7487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133" dirty="0">
                <a:latin typeface="Tahoma"/>
                <a:ea typeface="Tahoma"/>
                <a:cs typeface="Tahoma"/>
                <a:sym typeface="Tahoma"/>
              </a:rPr>
              <a:t>Segmenting Customers based on purchase style</a:t>
            </a:r>
            <a:endParaRPr lang="en-IN" sz="2133" dirty="0"/>
          </a:p>
        </p:txBody>
      </p:sp>
      <p:pic>
        <p:nvPicPr>
          <p:cNvPr id="1026" name="Picture 2" descr="Customer segment - Free business icons">
            <a:extLst>
              <a:ext uri="{FF2B5EF4-FFF2-40B4-BE49-F238E27FC236}">
                <a16:creationId xmlns:a16="http://schemas.microsoft.com/office/drawing/2014/main" id="{169F85DB-2857-B400-9DED-D6DDB329F5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14848" y="2058079"/>
            <a:ext cx="1781584" cy="17815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Product - Free business and finance icons">
            <a:extLst>
              <a:ext uri="{FF2B5EF4-FFF2-40B4-BE49-F238E27FC236}">
                <a16:creationId xmlns:a16="http://schemas.microsoft.com/office/drawing/2014/main" id="{EADBB473-D918-BD45-66C8-1DEFDB4017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0813" y="2058081"/>
            <a:ext cx="1952052" cy="19520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130;p22">
            <a:extLst>
              <a:ext uri="{FF2B5EF4-FFF2-40B4-BE49-F238E27FC236}">
                <a16:creationId xmlns:a16="http://schemas.microsoft.com/office/drawing/2014/main" id="{0FEEB3FA-59C9-F9CB-52C9-251A1CC452B6}"/>
              </a:ext>
            </a:extLst>
          </p:cNvPr>
          <p:cNvSpPr txBox="1"/>
          <p:nvPr/>
        </p:nvSpPr>
        <p:spPr>
          <a:xfrm>
            <a:off x="948238" y="4233145"/>
            <a:ext cx="2697199" cy="36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7633" rIns="0" bIns="0" anchor="t" anchorCtr="0">
            <a:spAutoFit/>
          </a:bodyPr>
          <a:lstStyle/>
          <a:p>
            <a:pPr marL="16933" algn="ctr">
              <a:lnSpc>
                <a:spcPct val="108800"/>
              </a:lnSpc>
            </a:pPr>
            <a:r>
              <a:rPr lang="en-IN" sz="2133" dirty="0">
                <a:latin typeface="Tahoma"/>
                <a:ea typeface="Tahoma"/>
                <a:cs typeface="Tahoma"/>
                <a:sym typeface="Tahoma"/>
              </a:rPr>
              <a:t>High Value Products</a:t>
            </a:r>
            <a:endParaRPr sz="2133" dirty="0">
              <a:latin typeface="Tahoma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3"/>
          <p:cNvSpPr txBox="1">
            <a:spLocks noGrp="1"/>
          </p:cNvSpPr>
          <p:nvPr>
            <p:ph type="sldNum" sz="quarter" idx="12"/>
          </p:nvPr>
        </p:nvSpPr>
        <p:spPr>
          <a:xfrm>
            <a:off x="11629098" y="6348497"/>
            <a:ext cx="391035" cy="25988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3533" rIns="0" bIns="0" rtlCol="0" anchor="t" anchorCtr="0">
            <a:spAutoFit/>
          </a:bodyPr>
          <a:lstStyle/>
          <a:p>
            <a:pPr marL="33866" algn="l"/>
            <a:r>
              <a:rPr lang="e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Google Shape;149;p24">
            <a:extLst>
              <a:ext uri="{FF2B5EF4-FFF2-40B4-BE49-F238E27FC236}">
                <a16:creationId xmlns:a16="http://schemas.microsoft.com/office/drawing/2014/main" id="{4111412B-3BE0-D353-E81E-A1DFDD1EA91D}"/>
              </a:ext>
            </a:extLst>
          </p:cNvPr>
          <p:cNvSpPr txBox="1">
            <a:spLocks/>
          </p:cNvSpPr>
          <p:nvPr/>
        </p:nvSpPr>
        <p:spPr>
          <a:xfrm>
            <a:off x="1832409" y="602689"/>
            <a:ext cx="10837333" cy="509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933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6933"/>
            <a:r>
              <a:rPr lang="en-IN" sz="2667" u="sng" dirty="0"/>
              <a:t>Data Collection and Methodology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6CBFB66-E0D4-7BD6-873C-659FF8985A11}"/>
              </a:ext>
            </a:extLst>
          </p:cNvPr>
          <p:cNvSpPr txBox="1"/>
          <p:nvPr/>
        </p:nvSpPr>
        <p:spPr>
          <a:xfrm>
            <a:off x="1690367" y="1591207"/>
            <a:ext cx="8231593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dirty="0"/>
              <a:t>• Data Source: UCI Machine Learning Repository</a:t>
            </a:r>
          </a:p>
          <a:p>
            <a:r>
              <a:rPr lang="en-IN" sz="1600" dirty="0"/>
              <a:t>• Data columns: </a:t>
            </a:r>
            <a:r>
              <a:rPr lang="en-IN" sz="1600" dirty="0" err="1"/>
              <a:t>InvoiceNo</a:t>
            </a:r>
            <a:r>
              <a:rPr lang="en-IN" sz="1600" dirty="0"/>
              <a:t>, </a:t>
            </a:r>
            <a:r>
              <a:rPr lang="en-IN" sz="1600" dirty="0" err="1"/>
              <a:t>StockCode</a:t>
            </a:r>
            <a:r>
              <a:rPr lang="en-IN" sz="1600" dirty="0"/>
              <a:t>, Description, Quantity, </a:t>
            </a:r>
            <a:r>
              <a:rPr lang="en-IN" sz="1600" dirty="0" err="1"/>
              <a:t>InvoiceDate</a:t>
            </a:r>
            <a:r>
              <a:rPr lang="en-IN" sz="1600" dirty="0"/>
              <a:t>, </a:t>
            </a:r>
            <a:r>
              <a:rPr lang="en-IN" sz="1600" dirty="0" err="1"/>
              <a:t>UnitPrice</a:t>
            </a:r>
            <a:r>
              <a:rPr lang="en-IN" sz="1600" dirty="0"/>
              <a:t>, </a:t>
            </a:r>
            <a:r>
              <a:rPr lang="en-IN" sz="1600" dirty="0" err="1"/>
              <a:t>CustomerID</a:t>
            </a:r>
            <a:r>
              <a:rPr lang="en-IN" sz="1600" dirty="0"/>
              <a:t> and Country.</a:t>
            </a:r>
          </a:p>
          <a:p>
            <a:r>
              <a:rPr lang="en-IN" sz="1600" dirty="0"/>
              <a:t>• Sales records from Dec 2010 - Dec 2011 (1 year worth of data)</a:t>
            </a:r>
          </a:p>
          <a:p>
            <a:r>
              <a:rPr lang="en-IN" sz="1600" dirty="0"/>
              <a:t>• Data preprocessing: Handling missing values, Removing duplicates, adding new columns like revenue etc.</a:t>
            </a:r>
          </a:p>
          <a:p>
            <a:endParaRPr lang="en-IN" sz="1600" dirty="0"/>
          </a:p>
          <a:p>
            <a:r>
              <a:rPr lang="en-IN" sz="1600" dirty="0"/>
              <a:t>• Methods used for analysing problems: 	</a:t>
            </a:r>
          </a:p>
          <a:p>
            <a:pPr marL="380990" lvl="3" indent="-380990">
              <a:buFont typeface="Courier New" panose="02070309020205020404" pitchFamily="49" charset="0"/>
              <a:buChar char="o"/>
            </a:pPr>
            <a:r>
              <a:rPr lang="en-IN" sz="1600" dirty="0"/>
              <a:t>Pareto Analysis for identifying high value Products and Customers</a:t>
            </a:r>
          </a:p>
          <a:p>
            <a:pPr marL="380990" lvl="3" indent="-380990">
              <a:buFont typeface="Courier New" panose="02070309020205020404" pitchFamily="49" charset="0"/>
              <a:buChar char="o"/>
            </a:pPr>
            <a:r>
              <a:rPr lang="en-IN" sz="1600" dirty="0"/>
              <a:t>K-Means Clustering for Customer Segmentation.</a:t>
            </a:r>
          </a:p>
          <a:p>
            <a:pPr marL="380990" lvl="3" indent="-380990">
              <a:buFont typeface="Courier New" panose="02070309020205020404" pitchFamily="49" charset="0"/>
              <a:buChar char="o"/>
            </a:pPr>
            <a:r>
              <a:rPr lang="en-IN" sz="1600" dirty="0"/>
              <a:t>Time Series Analysis for Analysing Trends in Demand</a:t>
            </a:r>
          </a:p>
          <a:p>
            <a:pPr marL="380990" lvl="3" indent="-380990">
              <a:buFont typeface="Courier New" panose="02070309020205020404" pitchFamily="49" charset="0"/>
              <a:buChar char="o"/>
            </a:pPr>
            <a:r>
              <a:rPr lang="en-IN" sz="1600" dirty="0"/>
              <a:t>Demand Forecasting using ARIMA</a:t>
            </a:r>
          </a:p>
          <a:p>
            <a:pPr marL="380990" lvl="3" indent="-380990">
              <a:buFont typeface="Courier New" panose="02070309020205020404" pitchFamily="49" charset="0"/>
              <a:buChar char="o"/>
            </a:pPr>
            <a:r>
              <a:rPr lang="en-IN" sz="1600" dirty="0"/>
              <a:t>Return Analysis</a:t>
            </a:r>
          </a:p>
          <a:p>
            <a:pPr marL="0" lvl="3"/>
            <a:endParaRPr lang="en-IN" sz="1600" dirty="0"/>
          </a:p>
          <a:p>
            <a:pPr marL="0" lvl="3"/>
            <a:r>
              <a:rPr lang="en-IN" sz="1600" dirty="0"/>
              <a:t>• Tools Used:</a:t>
            </a:r>
          </a:p>
          <a:p>
            <a:pPr marL="380990" lvl="3" indent="-380990">
              <a:buFont typeface="Courier New" panose="02070309020205020404" pitchFamily="49" charset="0"/>
              <a:buChar char="o"/>
            </a:pPr>
            <a:r>
              <a:rPr lang="en-IN" sz="1600" dirty="0"/>
              <a:t>Python</a:t>
            </a:r>
          </a:p>
          <a:p>
            <a:pPr marL="380990" lvl="3" indent="-380990">
              <a:buFont typeface="Courier New" panose="02070309020205020404" pitchFamily="49" charset="0"/>
              <a:buChar char="o"/>
            </a:pPr>
            <a:r>
              <a:rPr lang="en-IN" sz="1600" dirty="0"/>
              <a:t>Python Libraries: Pandas, </a:t>
            </a:r>
            <a:r>
              <a:rPr lang="en-IN" sz="1600" dirty="0" err="1"/>
              <a:t>StatsModels</a:t>
            </a:r>
            <a:r>
              <a:rPr lang="en-IN" sz="1600" dirty="0"/>
              <a:t>, Matplotlib, Scikit-learn etc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40244-B82C-4FB8-920D-5DDD2C4BE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7100" y="739519"/>
            <a:ext cx="8911687" cy="547742"/>
          </a:xfrm>
        </p:spPr>
        <p:txBody>
          <a:bodyPr>
            <a:normAutofit/>
          </a:bodyPr>
          <a:lstStyle/>
          <a:p>
            <a:r>
              <a:rPr lang="en-IN" sz="2800" b="1" u="sng" dirty="0"/>
              <a:t>Results &amp; Findings: Product Pareto Analysis</a:t>
            </a:r>
            <a:endParaRPr lang="en-US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9A4058-DB1E-4DBC-85AC-637BE49921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8391" y="4956812"/>
            <a:ext cx="9209211" cy="1552286"/>
          </a:xfrm>
        </p:spPr>
        <p:txBody>
          <a:bodyPr/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00" b="1" u="sng" dirty="0">
                <a:latin typeface="+mj-lt"/>
              </a:rPr>
              <a:t>Total Products</a:t>
            </a:r>
            <a:r>
              <a:rPr lang="en-US" sz="1800" b="1" dirty="0">
                <a:latin typeface="+mj-lt"/>
              </a:rPr>
              <a:t>:</a:t>
            </a:r>
            <a:r>
              <a:rPr lang="en-US" sz="1800" dirty="0">
                <a:latin typeface="+mj-lt"/>
              </a:rPr>
              <a:t> 3,941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00" b="1" u="sng" dirty="0">
                <a:latin typeface="+mj-lt"/>
              </a:rPr>
              <a:t>Products contributing to 80% of revenue</a:t>
            </a:r>
            <a:r>
              <a:rPr lang="en-US" sz="1800" b="1" dirty="0">
                <a:latin typeface="+mj-lt"/>
              </a:rPr>
              <a:t>:</a:t>
            </a:r>
            <a:r>
              <a:rPr lang="en-US" sz="1800" dirty="0">
                <a:latin typeface="+mj-lt"/>
              </a:rPr>
              <a:t> 799 (20.27%) 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00" b="1" u="sng" dirty="0">
                <a:latin typeface="+mj-lt"/>
              </a:rPr>
              <a:t>Key Takeaway</a:t>
            </a:r>
            <a:r>
              <a:rPr lang="en-US" sz="1800" b="1" dirty="0">
                <a:latin typeface="+mj-lt"/>
              </a:rPr>
              <a:t>:</a:t>
            </a:r>
            <a:r>
              <a:rPr lang="en-US" sz="1800" dirty="0">
                <a:latin typeface="+mj-lt"/>
              </a:rPr>
              <a:t> A small fraction of products generate the majority of sales, so inventory and marketing efforts should prioritize these high-revenue items.</a:t>
            </a:r>
            <a:endParaRPr lang="en-IN" sz="1800" dirty="0">
              <a:latin typeface="+mj-lt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7FB513-43ED-4085-B20A-7F53709652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666" y="1677880"/>
            <a:ext cx="5495277" cy="30901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57674F-E4B5-4EF9-A97B-DDA1650231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1715" y="1677880"/>
            <a:ext cx="5346200" cy="300779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61D15E8-13F9-663D-9B23-92796981E222}"/>
              </a:ext>
            </a:extLst>
          </p:cNvPr>
          <p:cNvSpPr txBox="1"/>
          <p:nvPr/>
        </p:nvSpPr>
        <p:spPr>
          <a:xfrm>
            <a:off x="11743070" y="6403163"/>
            <a:ext cx="33315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latin typeface="Arial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706916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8E06D-CF42-40DE-B9E9-5F8C737C0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1371" y="722814"/>
            <a:ext cx="8911687" cy="636519"/>
          </a:xfrm>
        </p:spPr>
        <p:txBody>
          <a:bodyPr>
            <a:normAutofit/>
          </a:bodyPr>
          <a:lstStyle/>
          <a:p>
            <a:r>
              <a:rPr lang="en-IN" sz="2800" b="1" u="sng" dirty="0"/>
              <a:t>Results &amp; Findings: Customer Pareto Analysis</a:t>
            </a:r>
            <a:endParaRPr lang="en-US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63DC9-D31B-44AE-AD5C-1746DEEA64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415372" y="4909351"/>
            <a:ext cx="8915400" cy="1766656"/>
          </a:xfrm>
        </p:spPr>
        <p:txBody>
          <a:bodyPr>
            <a:normAutofit/>
          </a:bodyPr>
          <a:lstStyle/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00" b="1" u="sng" dirty="0">
                <a:latin typeface="+mj-lt"/>
              </a:rPr>
              <a:t>Total Customers</a:t>
            </a:r>
            <a:r>
              <a:rPr lang="en-US" sz="1800" b="1" dirty="0">
                <a:latin typeface="+mj-lt"/>
              </a:rPr>
              <a:t>:</a:t>
            </a:r>
            <a:r>
              <a:rPr lang="en-US" sz="1800" dirty="0">
                <a:latin typeface="+mj-lt"/>
              </a:rPr>
              <a:t> 4,340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00" b="1" u="sng" dirty="0">
                <a:latin typeface="+mj-lt"/>
              </a:rPr>
              <a:t>Customers contributing to 80% of revenue</a:t>
            </a:r>
            <a:r>
              <a:rPr lang="en-US" sz="1800" b="1" dirty="0">
                <a:latin typeface="+mj-lt"/>
              </a:rPr>
              <a:t>:</a:t>
            </a:r>
            <a:r>
              <a:rPr lang="en-US" sz="1800" dirty="0">
                <a:latin typeface="+mj-lt"/>
              </a:rPr>
              <a:t> 932 (21.47%)</a:t>
            </a:r>
          </a:p>
          <a:p>
            <a:pPr marL="380990" indent="-380990">
              <a:buFont typeface="Arial" panose="020B0604020202020204" pitchFamily="34" charset="0"/>
              <a:buChar char="•"/>
            </a:pPr>
            <a:r>
              <a:rPr lang="en-US" sz="1800" b="1" u="sng" dirty="0">
                <a:latin typeface="+mj-lt"/>
              </a:rPr>
              <a:t>Key takeaway</a:t>
            </a:r>
            <a:r>
              <a:rPr lang="en-US" sz="1800" b="1" dirty="0">
                <a:latin typeface="+mj-lt"/>
              </a:rPr>
              <a:t>:</a:t>
            </a:r>
            <a:r>
              <a:rPr lang="en-US" sz="1800" dirty="0">
                <a:latin typeface="+mj-lt"/>
              </a:rPr>
              <a:t> A small group of high-value customers drive most revenue, so personalized marketing and loyalty programs can maximize retention.</a:t>
            </a:r>
            <a:br>
              <a:rPr lang="en-US" sz="2000" dirty="0">
                <a:latin typeface="+mj-lt"/>
              </a:rPr>
            </a:br>
            <a:endParaRPr lang="en-IN" sz="2000" dirty="0">
              <a:latin typeface="+mj-lt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54AF924-97C1-4C4C-BE25-CD4CF85674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8689" y="1569566"/>
            <a:ext cx="5308845" cy="312955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D511951-98FE-4C49-8882-1C68FE057E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15" y="1569566"/>
            <a:ext cx="5519884" cy="301678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98B895-6523-1B16-7E31-65E693BADB1C}"/>
              </a:ext>
            </a:extLst>
          </p:cNvPr>
          <p:cNvSpPr txBox="1"/>
          <p:nvPr/>
        </p:nvSpPr>
        <p:spPr>
          <a:xfrm>
            <a:off x="11589488" y="6296836"/>
            <a:ext cx="380410" cy="37757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latin typeface="Arial"/>
                <a:cs typeface="Arial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6428737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60;p25">
            <a:extLst>
              <a:ext uri="{FF2B5EF4-FFF2-40B4-BE49-F238E27FC236}">
                <a16:creationId xmlns:a16="http://schemas.microsoft.com/office/drawing/2014/main" id="{DCA6DDEA-E926-B146-A2E6-CB09A1B183D6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xfrm>
            <a:off x="11683015" y="6348498"/>
            <a:ext cx="337118" cy="290664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3533" rIns="0" bIns="0" rtlCol="0" anchor="t" anchorCtr="0">
            <a:spAutoFit/>
          </a:bodyPr>
          <a:lstStyle/>
          <a:p>
            <a:pPr marL="33866" algn="l"/>
            <a:r>
              <a:rPr lang="en" sz="1800" b="1" dirty="0">
                <a:solidFill>
                  <a:schemeClr val="tx1"/>
                </a:solidFill>
              </a:rPr>
              <a:t>7</a:t>
            </a:r>
            <a:endParaRPr sz="1800" b="1" dirty="0">
              <a:solidFill>
                <a:schemeClr val="tx1"/>
              </a:solidFill>
            </a:endParaRPr>
          </a:p>
        </p:txBody>
      </p:sp>
      <p:sp>
        <p:nvSpPr>
          <p:cNvPr id="3" name="Google Shape;149;p24">
            <a:extLst>
              <a:ext uri="{FF2B5EF4-FFF2-40B4-BE49-F238E27FC236}">
                <a16:creationId xmlns:a16="http://schemas.microsoft.com/office/drawing/2014/main" id="{08CF1835-3870-63C5-9B37-6E2FC5277119}"/>
              </a:ext>
            </a:extLst>
          </p:cNvPr>
          <p:cNvSpPr txBox="1">
            <a:spLocks/>
          </p:cNvSpPr>
          <p:nvPr/>
        </p:nvSpPr>
        <p:spPr>
          <a:xfrm>
            <a:off x="1937963" y="684220"/>
            <a:ext cx="10837333" cy="509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7933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16933"/>
            <a:r>
              <a:rPr lang="en-IN" sz="2667" u="sng" dirty="0"/>
              <a:t>Results &amp; Findings: Customer Segmentation</a:t>
            </a:r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15178028-0453-4111-CC79-54C80D2998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/>
        </p:blipFill>
        <p:spPr bwMode="auto">
          <a:xfrm>
            <a:off x="6394115" y="1476315"/>
            <a:ext cx="5532884" cy="34251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5473C2-8BCE-9FB1-A131-0606C90B542D}"/>
              </a:ext>
            </a:extLst>
          </p:cNvPr>
          <p:cNvSpPr txBox="1"/>
          <p:nvPr/>
        </p:nvSpPr>
        <p:spPr>
          <a:xfrm>
            <a:off x="677334" y="1570418"/>
            <a:ext cx="5716781" cy="44012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K-Means Clustering with 2 clusters (K = 2)</a:t>
            </a:r>
          </a:p>
          <a:p>
            <a:endParaRPr lang="en-US" sz="2000" dirty="0"/>
          </a:p>
          <a:p>
            <a:r>
              <a:rPr lang="en-US" sz="2000" b="1" dirty="0"/>
              <a:t>Blue Cluster – Regular Shoppers</a:t>
            </a:r>
          </a:p>
          <a:p>
            <a:r>
              <a:rPr lang="en-US" sz="2000" dirty="0"/>
              <a:t>• Majority of customers fall in this group.</a:t>
            </a:r>
          </a:p>
          <a:p>
            <a:r>
              <a:rPr lang="en-US" sz="2000" dirty="0"/>
              <a:t>• They make occasional purchases with lower total spending.</a:t>
            </a:r>
          </a:p>
          <a:p>
            <a:r>
              <a:rPr lang="en-US" sz="2000" dirty="0"/>
              <a:t>• Fewer product returns (Return Frequency = 1.81).</a:t>
            </a:r>
          </a:p>
          <a:p>
            <a:endParaRPr lang="en-US" sz="2000" dirty="0"/>
          </a:p>
          <a:p>
            <a:r>
              <a:rPr lang="en-US" sz="2000" b="1" dirty="0"/>
              <a:t>Orange Cluster – High-Value Customers </a:t>
            </a:r>
          </a:p>
          <a:p>
            <a:r>
              <a:rPr lang="en-US" sz="2000" dirty="0"/>
              <a:t>• These customers spend significantly more. </a:t>
            </a:r>
          </a:p>
          <a:p>
            <a:r>
              <a:rPr lang="en-US" sz="2000" dirty="0"/>
              <a:t>• They make frequent purchases and buy a wide variety of products. </a:t>
            </a:r>
          </a:p>
          <a:p>
            <a:r>
              <a:rPr lang="en-US" sz="2000" dirty="0"/>
              <a:t>• Higher return frequency (56.57), indicating potential dissatisfaction or bulk purchasing behavior.</a:t>
            </a:r>
          </a:p>
        </p:txBody>
      </p:sp>
    </p:spTree>
    <p:extLst>
      <p:ext uri="{BB962C8B-B14F-4D97-AF65-F5344CB8AC3E}">
        <p14:creationId xmlns:p14="http://schemas.microsoft.com/office/powerpoint/2010/main" val="4862607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00219-DEFA-486B-AFDA-9EEBBC53A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04653" y="704009"/>
            <a:ext cx="8911687" cy="618764"/>
          </a:xfrm>
        </p:spPr>
        <p:txBody>
          <a:bodyPr>
            <a:normAutofit/>
          </a:bodyPr>
          <a:lstStyle/>
          <a:p>
            <a:r>
              <a:rPr lang="en-IN" sz="2800" b="1" u="sng" dirty="0"/>
              <a:t>Problems that need Attention</a:t>
            </a:r>
            <a:endParaRPr lang="en-US" sz="28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D3B9B7-4941-4BBD-8CEE-57267BE868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72467" y="1540188"/>
            <a:ext cx="8277055" cy="4860611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1800" b="1" u="sng" dirty="0" err="1"/>
              <a:t>CustomerID</a:t>
            </a:r>
            <a:r>
              <a:rPr lang="en-US" sz="1800" b="1" dirty="0"/>
              <a:t>:</a:t>
            </a:r>
            <a:r>
              <a:rPr lang="en-US" sz="1800" dirty="0"/>
              <a:t> About 135,080 missing values (about 24.9% of the sample).</a:t>
            </a:r>
          </a:p>
          <a:p>
            <a:endParaRPr lang="en-US" sz="1800" dirty="0"/>
          </a:p>
          <a:p>
            <a:r>
              <a:rPr lang="en-IN" sz="1800" dirty="0"/>
              <a:t>During pareto analysis, </a:t>
            </a:r>
            <a:r>
              <a:rPr lang="en-US" sz="1800" dirty="0"/>
              <a:t>Unknown Customers generated over </a:t>
            </a:r>
            <a:r>
              <a:rPr lang="en-US" dirty="0"/>
              <a:t> </a:t>
            </a:r>
            <a:r>
              <a:rPr lang="en-US" sz="1800" b="1" dirty="0"/>
              <a:t>1,732,777 (16.3%)</a:t>
            </a:r>
            <a:r>
              <a:rPr lang="en-US" sz="1800" dirty="0"/>
              <a:t> in revenue.</a:t>
            </a:r>
          </a:p>
          <a:p>
            <a:endParaRPr lang="en-US" sz="1800" dirty="0"/>
          </a:p>
          <a:p>
            <a:r>
              <a:rPr lang="en-IN" sz="1800" dirty="0"/>
              <a:t>During return analysis </a:t>
            </a:r>
            <a:r>
              <a:rPr lang="en-US" sz="1800" dirty="0"/>
              <a:t>Unknown Customers generated over</a:t>
            </a:r>
            <a:r>
              <a:rPr lang="en-US" dirty="0"/>
              <a:t>        </a:t>
            </a:r>
            <a:r>
              <a:rPr lang="en-US" sz="1800" b="1" dirty="0"/>
              <a:t>285,470 (</a:t>
            </a:r>
            <a:r>
              <a:rPr lang="en-US" b="1" dirty="0"/>
              <a:t>31.83</a:t>
            </a:r>
            <a:r>
              <a:rPr lang="en-US" sz="1800" b="1" dirty="0"/>
              <a:t>%) </a:t>
            </a:r>
            <a:r>
              <a:rPr lang="en-US" sz="1800" dirty="0"/>
              <a:t>in returns.</a:t>
            </a:r>
          </a:p>
          <a:p>
            <a:endParaRPr lang="en-US" sz="1800" dirty="0"/>
          </a:p>
          <a:p>
            <a:r>
              <a:rPr lang="en-US" sz="1800" dirty="0"/>
              <a:t>Total return summed to </a:t>
            </a:r>
            <a:r>
              <a:rPr lang="en-US" sz="1800" b="1" dirty="0"/>
              <a:t>896,812 (9.2%)</a:t>
            </a:r>
            <a:r>
              <a:rPr lang="en-US" sz="1800" dirty="0"/>
              <a:t>.</a:t>
            </a:r>
          </a:p>
          <a:p>
            <a:endParaRPr lang="en-US" sz="1800" dirty="0"/>
          </a:p>
          <a:p>
            <a:r>
              <a:rPr lang="en-IN" sz="1800" dirty="0"/>
              <a:t>Demand forecasting and trend analysis was ineffective as the data only spanned for over a year. For effective demand forecasting, at least 2-3 years worth of data is needed.</a:t>
            </a:r>
            <a:endParaRPr lang="en-US" sz="1800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7E68F19-B839-F799-6DDF-9F9134A443FE}"/>
              </a:ext>
            </a:extLst>
          </p:cNvPr>
          <p:cNvSpPr txBox="1"/>
          <p:nvPr/>
        </p:nvSpPr>
        <p:spPr>
          <a:xfrm>
            <a:off x="11636743" y="6403162"/>
            <a:ext cx="356782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b="1" dirty="0">
                <a:latin typeface="Arial"/>
                <a:cs typeface="Arial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0886938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7"/>
          <p:cNvSpPr txBox="1">
            <a:spLocks noGrp="1"/>
          </p:cNvSpPr>
          <p:nvPr>
            <p:ph type="title"/>
          </p:nvPr>
        </p:nvSpPr>
        <p:spPr>
          <a:xfrm>
            <a:off x="1716021" y="603724"/>
            <a:ext cx="10837333" cy="685658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8467" rIns="0" bIns="0" rtlCol="0" anchor="t" anchorCtr="0">
            <a:spAutoFit/>
          </a:bodyPr>
          <a:lstStyle/>
          <a:p>
            <a:pPr marL="16933">
              <a:lnSpc>
                <a:spcPct val="100000"/>
              </a:lnSpc>
              <a:spcBef>
                <a:spcPts val="0"/>
              </a:spcBef>
            </a:pPr>
            <a:r>
              <a:rPr lang="en" u="sng" dirty="0"/>
              <a:t>Sugesstions and Solutions</a:t>
            </a:r>
            <a:endParaRPr u="sng" dirty="0"/>
          </a:p>
        </p:txBody>
      </p:sp>
      <p:sp>
        <p:nvSpPr>
          <p:cNvPr id="180" name="Google Shape;180;p27"/>
          <p:cNvSpPr txBox="1">
            <a:spLocks noGrp="1"/>
          </p:cNvSpPr>
          <p:nvPr>
            <p:ph type="sldNum" sz="quarter" idx="12"/>
          </p:nvPr>
        </p:nvSpPr>
        <p:spPr>
          <a:xfrm>
            <a:off x="11691891" y="6348498"/>
            <a:ext cx="328241" cy="259886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13533" rIns="0" bIns="0" rtlCol="0" anchor="t" anchorCtr="0">
            <a:spAutoFit/>
          </a:bodyPr>
          <a:lstStyle/>
          <a:p>
            <a:pPr marL="33866" algn="l"/>
            <a:r>
              <a:rPr lang="en" sz="16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sz="16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1" name="Google Shape;181;p27"/>
          <p:cNvSpPr txBox="1"/>
          <p:nvPr/>
        </p:nvSpPr>
        <p:spPr>
          <a:xfrm>
            <a:off x="1631567" y="1273747"/>
            <a:ext cx="7608667" cy="5149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467" rIns="0" bIns="0" anchor="t" anchorCtr="0">
            <a:spAutoFit/>
          </a:bodyPr>
          <a:lstStyle/>
          <a:p>
            <a:pPr marL="8466" marR="406390">
              <a:lnSpc>
                <a:spcPct val="115799"/>
              </a:lnSpc>
              <a:buSzPts val="1700"/>
            </a:pPr>
            <a:r>
              <a:rPr lang="en-US" b="1" dirty="0"/>
              <a:t>Better Data Management: </a:t>
            </a:r>
            <a:r>
              <a:rPr lang="en-US" dirty="0"/>
              <a:t>Improve data collection on customer identities, ask for reviews, reasons for returns etc. </a:t>
            </a:r>
          </a:p>
          <a:p>
            <a:pPr marL="8466" marR="406390">
              <a:lnSpc>
                <a:spcPct val="115799"/>
              </a:lnSpc>
              <a:buSzPts val="1700"/>
            </a:pPr>
            <a:r>
              <a:rPr lang="en-US" b="1" dirty="0"/>
              <a:t>Inventory Optimization: </a:t>
            </a:r>
            <a:r>
              <a:rPr lang="en-US" dirty="0"/>
              <a:t>Focus on the top 20% of revenue-generating products to improve stock efficiency.</a:t>
            </a:r>
          </a:p>
          <a:p>
            <a:pPr marL="8466" marR="406390">
              <a:lnSpc>
                <a:spcPct val="115799"/>
              </a:lnSpc>
              <a:buSzPts val="1700"/>
            </a:pPr>
            <a:r>
              <a:rPr lang="en-US" b="1" dirty="0"/>
              <a:t>Customer Retention: </a:t>
            </a:r>
            <a:r>
              <a:rPr lang="en-US" dirty="0"/>
              <a:t>Use loyalty programs and personalized marketing for high-value customers.</a:t>
            </a:r>
          </a:p>
          <a:p>
            <a:pPr marL="8466" marR="406390">
              <a:lnSpc>
                <a:spcPct val="115799"/>
              </a:lnSpc>
              <a:buSzPts val="1700"/>
            </a:pPr>
            <a:r>
              <a:rPr lang="en-US" b="1" dirty="0"/>
              <a:t>High value Customers: </a:t>
            </a:r>
            <a:r>
              <a:rPr lang="en-US" dirty="0"/>
              <a:t>Can be offered premium services (exclusive deals, faster shipping, or VIP support).</a:t>
            </a:r>
            <a:endParaRPr lang="en-US" b="1" dirty="0"/>
          </a:p>
          <a:p>
            <a:pPr marL="8466" marR="406390">
              <a:lnSpc>
                <a:spcPct val="115799"/>
              </a:lnSpc>
              <a:buSzPts val="1700"/>
            </a:pPr>
            <a:r>
              <a:rPr lang="en-US" b="1" dirty="0"/>
              <a:t>More Data:</a:t>
            </a:r>
            <a:r>
              <a:rPr lang="en-US" dirty="0"/>
              <a:t> Attempt demand forecasting with at least 2-3 years of time series data using ARIMA or other models to yield significant results . </a:t>
            </a:r>
          </a:p>
          <a:p>
            <a:pPr marL="8466" marR="406390">
              <a:lnSpc>
                <a:spcPct val="115799"/>
              </a:lnSpc>
              <a:buSzPts val="1700"/>
            </a:pPr>
            <a:r>
              <a:rPr lang="en-US" b="1" dirty="0"/>
              <a:t>Return Reduction:</a:t>
            </a:r>
            <a:r>
              <a:rPr lang="en-US" dirty="0"/>
              <a:t> Investigate high-return products/customers and implement stricter policies. </a:t>
            </a:r>
          </a:p>
          <a:p>
            <a:pPr marL="8466" marR="406390">
              <a:lnSpc>
                <a:spcPct val="115799"/>
              </a:lnSpc>
              <a:buSzPts val="1700"/>
            </a:pPr>
            <a:r>
              <a:rPr lang="en-US" b="1" dirty="0"/>
              <a:t>Targeted Marketing: </a:t>
            </a:r>
            <a:r>
              <a:rPr lang="en-US" dirty="0"/>
              <a:t>Use segmentation insights to offer promotions for regular shoppers and exclusive perks for high-value customers.</a:t>
            </a:r>
            <a:endParaRPr dirty="0">
              <a:latin typeface="Lucida Sans"/>
              <a:ea typeface="Lucida Sans"/>
              <a:cs typeface="Lucida Sans"/>
              <a:sym typeface="Lucida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8"/>
          <p:cNvSpPr txBox="1"/>
          <p:nvPr/>
        </p:nvSpPr>
        <p:spPr>
          <a:xfrm>
            <a:off x="4298301" y="3052387"/>
            <a:ext cx="4209019" cy="890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467" rIns="0" bIns="0" anchor="t" anchorCtr="0">
            <a:spAutoFit/>
          </a:bodyPr>
          <a:lstStyle/>
          <a:p>
            <a:pPr marL="16933"/>
            <a:r>
              <a:rPr lang="en" sz="5733" dirty="0">
                <a:latin typeface="Monotype Corsiva" panose="03010101010201010101" pitchFamily="66" charset="0"/>
                <a:ea typeface="Tahoma"/>
                <a:cs typeface="Tahoma"/>
                <a:sym typeface="Tahoma"/>
              </a:rPr>
              <a:t>Thank You !</a:t>
            </a:r>
            <a:endParaRPr sz="5733" dirty="0">
              <a:latin typeface="Monotype Corsiva" panose="03010101010201010101" pitchFamily="66" charset="0"/>
              <a:ea typeface="Tahoma"/>
              <a:cs typeface="Tahoma"/>
              <a:sym typeface="Tahom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87</TotalTime>
  <Words>620</Words>
  <Application>Microsoft Office PowerPoint</Application>
  <PresentationFormat>Widescreen</PresentationFormat>
  <Paragraphs>72</Paragraphs>
  <Slides>10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Wisp</vt:lpstr>
      <vt:lpstr>             Optimizing Online Retail Sales Performance      Using a Data-Driven Approach</vt:lpstr>
      <vt:lpstr>Business Overview</vt:lpstr>
      <vt:lpstr>Challenges to Explore</vt:lpstr>
      <vt:lpstr>PowerPoint Presentation</vt:lpstr>
      <vt:lpstr>Results &amp; Findings: Product Pareto Analysis</vt:lpstr>
      <vt:lpstr>Results &amp; Findings: Customer Pareto Analysis</vt:lpstr>
      <vt:lpstr>PowerPoint Presentation</vt:lpstr>
      <vt:lpstr>Problems that need Attention</vt:lpstr>
      <vt:lpstr>Sugesstions and Solutions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      Optimizing Online Retail Sales Performance      Using a Data-Driven Insights</dc:title>
  <dc:creator>Premshuk Saha</dc:creator>
  <cp:lastModifiedBy>Premshuk Saha</cp:lastModifiedBy>
  <cp:revision>50</cp:revision>
  <dcterms:created xsi:type="dcterms:W3CDTF">2025-08-17T18:09:20Z</dcterms:created>
  <dcterms:modified xsi:type="dcterms:W3CDTF">2025-08-19T09:22:56Z</dcterms:modified>
</cp:coreProperties>
</file>